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Nalpantidi" userId="388aa753c343d0d2" providerId="LiveId" clId="{86EA8717-CC34-48D8-93D7-4C9E0942935A}"/>
    <pc:docChg chg="modSld">
      <pc:chgData name="Anna Nalpantidi" userId="388aa753c343d0d2" providerId="LiveId" clId="{86EA8717-CC34-48D8-93D7-4C9E0942935A}" dt="2024-03-12T18:49:56.064" v="3" actId="20577"/>
      <pc:docMkLst>
        <pc:docMk/>
      </pc:docMkLst>
      <pc:sldChg chg="modSp mod">
        <pc:chgData name="Anna Nalpantidi" userId="388aa753c343d0d2" providerId="LiveId" clId="{86EA8717-CC34-48D8-93D7-4C9E0942935A}" dt="2024-03-11T17:36:57.795" v="2" actId="20577"/>
        <pc:sldMkLst>
          <pc:docMk/>
          <pc:sldMk cId="3778274659" sldId="257"/>
        </pc:sldMkLst>
        <pc:spChg chg="mod">
          <ac:chgData name="Anna Nalpantidi" userId="388aa753c343d0d2" providerId="LiveId" clId="{86EA8717-CC34-48D8-93D7-4C9E0942935A}" dt="2024-03-11T17:36:57.795" v="2" actId="20577"/>
          <ac:spMkLst>
            <pc:docMk/>
            <pc:sldMk cId="3778274659" sldId="257"/>
            <ac:spMk id="3" creationId="{19D5F96B-D08B-9F95-D3D8-56D14A1DDE20}"/>
          </ac:spMkLst>
        </pc:spChg>
        <pc:spChg chg="mod">
          <ac:chgData name="Anna Nalpantidi" userId="388aa753c343d0d2" providerId="LiveId" clId="{86EA8717-CC34-48D8-93D7-4C9E0942935A}" dt="2024-03-11T17:36:50.888" v="0" actId="1076"/>
          <ac:spMkLst>
            <pc:docMk/>
            <pc:sldMk cId="3778274659" sldId="257"/>
            <ac:spMk id="7" creationId="{BB525D16-F8B7-F7B0-8D3E-DE279823DCDF}"/>
          </ac:spMkLst>
        </pc:spChg>
      </pc:sldChg>
      <pc:sldChg chg="modSp mod">
        <pc:chgData name="Anna Nalpantidi" userId="388aa753c343d0d2" providerId="LiveId" clId="{86EA8717-CC34-48D8-93D7-4C9E0942935A}" dt="2024-03-12T18:49:56.064" v="3" actId="20577"/>
        <pc:sldMkLst>
          <pc:docMk/>
          <pc:sldMk cId="2899982104" sldId="259"/>
        </pc:sldMkLst>
        <pc:spChg chg="mod">
          <ac:chgData name="Anna Nalpantidi" userId="388aa753c343d0d2" providerId="LiveId" clId="{86EA8717-CC34-48D8-93D7-4C9E0942935A}" dt="2024-03-12T18:49:56.064" v="3" actId="20577"/>
          <ac:spMkLst>
            <pc:docMk/>
            <pc:sldMk cId="2899982104" sldId="259"/>
            <ac:spMk id="15" creationId="{1392A096-86DB-B642-89D3-92CFF2D2B7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AC926-EBDA-41C6-AB96-A54FEDF95219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DB43D-3DCF-4DB5-B882-5AC574847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5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88A6D07-AD01-ACEA-AAF0-15348AA17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30DBBEBF-64D9-BB7E-EC71-430E1F0B7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249F56D-22F3-9295-3E5A-C22D6C372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54BD2-E3CD-44FA-83AF-96D690622147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29C4055-2B88-4519-8CCD-A2D563E1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C05D3AD-7BAB-4842-5E35-906B1E73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3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61FA489-9669-F1C2-7076-D8316541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A33672B-F584-08A5-7566-BB01A0110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27FBE05-3376-ADD2-AEEF-8DAF3C0D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B216-31A0-456D-98F0-E1E64C247773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76920E5-E79B-589E-9FC1-043F87BD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CD4D391-180D-3338-44B8-83683CA8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84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D24CD9-AAC8-FCE4-AD41-C5F4FC90B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2E34B6C7-F333-0114-DEC6-66A77911C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597F03B-9A10-576C-773A-FECA0C5A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4D82-DDC6-4D3E-8334-B877BD0E596C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846C1CF-2FBD-B79F-46C8-8A6D81D3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A2E40802-A9B3-013E-064C-F4B4C90E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9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84F8553-74FB-0684-3CEC-05E2B632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4A585CF-E192-65B2-9778-5619D2394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D83E76EA-684F-BD99-2371-D7E9467E2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E271479-612D-B4AB-BA27-CA426A17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7A88-FBA3-4D73-8829-C03A539F0901}" type="datetime1">
              <a:rPr lang="en-US" smtClean="0"/>
              <a:t>2/21/2025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4AC8FD3-CCA2-AAD5-A222-8ABE48CE9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5D9F5800-F8F2-47FA-14E8-1D79B6C9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0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12218B6-E272-B980-D25E-BBD47AAC7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A564902D-674E-C6B7-0436-133FB52EF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B72B01B8-65A8-7EBA-E136-B59D44471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E3CB2B83-D612-D8AB-4CEE-ADEA39667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03120ED3-B336-9138-14F5-C25B25404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618E0261-844A-EBFD-B272-68C73AA9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7C34-20E1-493A-9A79-6C733EEEB282}" type="datetime1">
              <a:rPr lang="en-US" smtClean="0"/>
              <a:t>2/21/2025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E144480-7AB8-3C0C-2E06-A24275D10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B198AE3F-70CC-3C60-40C9-49F74806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8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12DAF3E-2758-B2F6-119A-298B59EA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9DAD331A-CE1D-7105-E019-37661941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52D0-C13D-4F61-841B-95265C19E68F}" type="datetime1">
              <a:rPr lang="en-US" smtClean="0"/>
              <a:t>2/21/2025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CF7C02D-A5B8-B972-28EC-42EFE128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7A2B0A4C-BAAB-2A05-B3A6-2B0AC4C7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7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F81D5195-938A-36E6-DF74-25AB2330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C69C-651C-4EC1-BF6A-5D7037348CA6}" type="datetime1">
              <a:rPr lang="en-US" smtClean="0"/>
              <a:t>2/21/2025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50BC9819-FD76-8A9C-72B7-C28797A2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942B0C2-2BCC-CAA0-AFEF-3EC87901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74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D5D322E-2356-C067-973F-7790D8C9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9CF403B-ED24-646B-102E-8DAB50A70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E0B9F350-908C-4628-A750-EC4EF4D91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E9F76254-1BAF-FF0D-35C8-F97A591D0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B5A6-FE91-421C-888E-E149F99AF366}" type="datetime1">
              <a:rPr lang="en-US" smtClean="0"/>
              <a:t>2/21/2025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9BE26AA2-5E65-B318-A9C4-9DDD257D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DE5981DE-757E-E37A-F78A-FA542C3F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7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19A7F9-933A-CA4E-7D35-21D8092F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6E361D42-3527-CF6D-9E2C-6C0622F6B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87D62466-DBEE-41D8-4279-1A427E51D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3CE840-B2A7-4637-9FB3-D8797476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4109-D55C-45D1-A3FD-6A8F6E6F09CC}" type="datetime1">
              <a:rPr lang="en-US" smtClean="0"/>
              <a:t>2/21/2025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9A30CB92-F59B-F119-D20C-BD28A6D8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5EE15F25-7123-3A62-5908-E871416F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82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7A79C97-762C-DC46-441A-E5C4E8AA4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9939750B-3064-7DDA-3D4C-31EC69F04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CCA52CE-EB40-9FBD-53E6-178DD12A3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055-B919-46F6-A5E3-E1174913E707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D7BEA1A-E765-94EB-C2F8-ED287C6B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AA735A0A-7724-8B54-A4CF-8284000D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9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750820F3-6A41-1631-E8A8-6167F0082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240C7593-2D8B-CB0F-9C3F-F0506F06B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AEAEB51-78AB-6257-642C-703E9151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27281-60B8-4A62-8557-DC3F297A3331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18CFCAB-CF04-8574-E9DC-56E2B876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F017875-AB0E-2C39-2D08-A798240D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8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ED720B18-0D4B-020E-6EF6-408D4B50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172A091-CC95-EF89-BEE2-4DA3A76FE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03435D0-A417-FD37-60BD-C78E8715D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E8936-BB2F-4CEF-9B84-B55E605B5022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C8001AE-5FA8-D44F-5FB3-9292A42939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E39E22DA-8975-6DAF-5C79-14A9F73AB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572ED-E776-43AA-A1CF-5D8F3EAC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6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99C70CD-05E2-376C-007C-4FD69F83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1081"/>
            <a:ext cx="9144000" cy="1142060"/>
          </a:xfrm>
        </p:spPr>
        <p:txBody>
          <a:bodyPr/>
          <a:lstStyle/>
          <a:p>
            <a:r>
              <a:rPr lang="en-US" dirty="0"/>
              <a:t>Rmarkdown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B1DCC730-4BD7-1CE4-2A32-5D5A44695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390261"/>
          </a:xfrm>
        </p:spPr>
        <p:txBody>
          <a:bodyPr/>
          <a:lstStyle/>
          <a:p>
            <a:r>
              <a:rPr lang="el-GR" dirty="0"/>
              <a:t>Εργαστήρια στην Ανάλυση Δεδομένων </a:t>
            </a:r>
          </a:p>
          <a:p>
            <a:endParaRPr lang="el-GR" dirty="0"/>
          </a:p>
          <a:p>
            <a:r>
              <a:rPr lang="el-GR" dirty="0"/>
              <a:t>Αργυρώ </a:t>
            </a:r>
            <a:r>
              <a:rPr lang="el-GR" dirty="0" err="1"/>
              <a:t>Δαμουλάκη</a:t>
            </a:r>
            <a:r>
              <a:rPr lang="el-GR" dirty="0"/>
              <a:t> &amp; Άννα </a:t>
            </a:r>
            <a:r>
              <a:rPr lang="el-GR" dirty="0" err="1"/>
              <a:t>Ναλπαντίδη</a:t>
            </a:r>
            <a:endParaRPr lang="el-GR" dirty="0"/>
          </a:p>
        </p:txBody>
      </p:sp>
      <p:pic>
        <p:nvPicPr>
          <p:cNvPr id="5122" name="Picture 2" descr="Department of Statistics Seminar Program | Athens University of Economics  and Business">
            <a:extLst>
              <a:ext uri="{FF2B5EF4-FFF2-40B4-BE49-F238E27FC236}">
                <a16:creationId xmlns:a16="http://schemas.microsoft.com/office/drawing/2014/main" id="{7002CE50-2006-A1E6-B40D-59412EA0D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5003"/>
            <a:ext cx="6724650" cy="122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EBD0A7-E5E4-EF86-5DD2-307B77BC0DC1}"/>
              </a:ext>
            </a:extLst>
          </p:cNvPr>
          <p:cNvSpPr txBox="1"/>
          <p:nvPr/>
        </p:nvSpPr>
        <p:spPr>
          <a:xfrm>
            <a:off x="100305" y="5800922"/>
            <a:ext cx="41544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Διδάσκοντες: </a:t>
            </a:r>
            <a:r>
              <a:rPr lang="el-GR" dirty="0"/>
              <a:t>Ι. </a:t>
            </a:r>
            <a:r>
              <a:rPr lang="el-GR" dirty="0" err="1"/>
              <a:t>Ντζούφρας</a:t>
            </a:r>
            <a:r>
              <a:rPr lang="el-GR" dirty="0"/>
              <a:t>, Ξ. </a:t>
            </a:r>
            <a:r>
              <a:rPr lang="el-GR" dirty="0" err="1"/>
              <a:t>Πεντελή</a:t>
            </a:r>
            <a:endParaRPr lang="el-GR" dirty="0"/>
          </a:p>
          <a:p>
            <a:endParaRPr lang="el-GR" dirty="0"/>
          </a:p>
          <a:p>
            <a:r>
              <a:rPr lang="el-GR" dirty="0"/>
              <a:t>6</a:t>
            </a:r>
            <a:r>
              <a:rPr lang="el-GR" baseline="30000" dirty="0"/>
              <a:t>ο</a:t>
            </a:r>
            <a:r>
              <a:rPr lang="el-GR" dirty="0"/>
              <a:t> εξάμηνο, 2025</a:t>
            </a:r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6729644-1979-CF75-CB34-C6F671F8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1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721E75A6-34EE-857C-6153-F08F503EA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61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CBE5CFD-D61F-BB47-43EF-58065365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241300"/>
            <a:ext cx="4819650" cy="1142207"/>
          </a:xfrm>
        </p:spPr>
        <p:txBody>
          <a:bodyPr>
            <a:normAutofit/>
          </a:bodyPr>
          <a:lstStyle/>
          <a:p>
            <a:r>
              <a:rPr lang="el-GR" sz="2400" b="1" dirty="0"/>
              <a:t>Τι είναι το </a:t>
            </a:r>
            <a:r>
              <a:rPr lang="en-US" sz="2400" b="1" dirty="0"/>
              <a:t> </a:t>
            </a:r>
            <a:r>
              <a:rPr lang="en-US" sz="2400" b="1" dirty="0" err="1"/>
              <a:t>Rmardown</a:t>
            </a:r>
            <a:r>
              <a:rPr lang="en-US" sz="2400" b="1" dirty="0"/>
              <a:t>? </a:t>
            </a:r>
            <a:endParaRPr lang="el-GR" sz="2400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58341D4-2328-BACD-15B2-B6F68B2A0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694259"/>
            <a:ext cx="10515600" cy="4351338"/>
          </a:xfrm>
        </p:spPr>
        <p:txBody>
          <a:bodyPr>
            <a:normAutofit/>
          </a:bodyPr>
          <a:lstStyle/>
          <a:p>
            <a:r>
              <a:rPr lang="el-GR" sz="2400" dirty="0"/>
              <a:t>Εργαλείο που χρησιμ</a:t>
            </a:r>
            <a:r>
              <a:rPr lang="en-US" sz="2400" dirty="0"/>
              <a:t>o</a:t>
            </a:r>
            <a:r>
              <a:rPr lang="el-GR" sz="2400" dirty="0"/>
              <a:t>ποιείται μέσω του </a:t>
            </a:r>
            <a:r>
              <a:rPr lang="en-US" sz="2400" dirty="0" err="1"/>
              <a:t>Rstudio</a:t>
            </a:r>
            <a:r>
              <a:rPr lang="en-US" sz="2400" dirty="0"/>
              <a:t> </a:t>
            </a:r>
            <a:r>
              <a:rPr lang="el-GR" sz="2400" dirty="0"/>
              <a:t>για τη δημιουργία αναφορών. </a:t>
            </a:r>
          </a:p>
          <a:p>
            <a:r>
              <a:rPr lang="el-GR" sz="2400" dirty="0"/>
              <a:t>Συνδυάζει κώδικα </a:t>
            </a:r>
            <a:r>
              <a:rPr lang="en-US" sz="2400" dirty="0"/>
              <a:t>R, </a:t>
            </a:r>
            <a:r>
              <a:rPr lang="el-GR" sz="2400" dirty="0"/>
              <a:t>αποτελέσματα (πίνακες, διαγράμματα </a:t>
            </a:r>
            <a:r>
              <a:rPr lang="el-GR" sz="2400" dirty="0" err="1"/>
              <a:t>κλπ</a:t>
            </a:r>
            <a:r>
              <a:rPr lang="el-GR" sz="2400" dirty="0"/>
              <a:t>),  και σχολιασμό αποτελεσμάτων σε ένα έγγραφο.</a:t>
            </a:r>
          </a:p>
          <a:p>
            <a:r>
              <a:rPr lang="el-GR" sz="2400" dirty="0"/>
              <a:t>Μπορούμε να δημιουργήσουμε</a:t>
            </a:r>
            <a:r>
              <a:rPr lang="en-US" sz="2400" dirty="0"/>
              <a:t>: </a:t>
            </a:r>
            <a:r>
              <a:rPr lang="el-GR" sz="2400" dirty="0"/>
              <a:t>αναφορές, άρθρα, παρουσιάσεις και άλλα έγγραφα. 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E4092EAA-D0C1-FD0C-C2B5-11E6D6DC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3BC0D81-7695-4D83-69FF-FA48312C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5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εικόνα">
            <a:extLst>
              <a:ext uri="{FF2B5EF4-FFF2-40B4-BE49-F238E27FC236}">
                <a16:creationId xmlns:a16="http://schemas.microsoft.com/office/drawing/2014/main" id="{F748C3D8-060B-25EB-DFCA-64A6B8E81F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10"/>
          <a:stretch/>
        </p:blipFill>
        <p:spPr bwMode="auto">
          <a:xfrm>
            <a:off x="627493" y="962592"/>
            <a:ext cx="5230382" cy="515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F0CBA9-7FC4-BAD6-B1D9-C636174E4251}"/>
              </a:ext>
            </a:extLst>
          </p:cNvPr>
          <p:cNvSpPr txBox="1"/>
          <p:nvPr/>
        </p:nvSpPr>
        <p:spPr>
          <a:xfrm>
            <a:off x="179623" y="104583"/>
            <a:ext cx="430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to start?</a:t>
            </a:r>
          </a:p>
        </p:txBody>
      </p:sp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618B52FB-16F2-388C-3D68-847C00EB6875}"/>
              </a:ext>
            </a:extLst>
          </p:cNvPr>
          <p:cNvSpPr/>
          <p:nvPr/>
        </p:nvSpPr>
        <p:spPr>
          <a:xfrm>
            <a:off x="531844" y="943930"/>
            <a:ext cx="317241" cy="320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BB525D16-F8B7-F7B0-8D3E-DE279823DCDF}"/>
              </a:ext>
            </a:extLst>
          </p:cNvPr>
          <p:cNvSpPr/>
          <p:nvPr/>
        </p:nvSpPr>
        <p:spPr>
          <a:xfrm>
            <a:off x="2525632" y="1971105"/>
            <a:ext cx="1695062" cy="320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4534A0-3FA2-E4BC-FDFF-D7AB12B92DEA}"/>
              </a:ext>
            </a:extLst>
          </p:cNvPr>
          <p:cNvSpPr txBox="1"/>
          <p:nvPr/>
        </p:nvSpPr>
        <p:spPr>
          <a:xfrm>
            <a:off x="394227" y="565267"/>
            <a:ext cx="111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>
                <a:solidFill>
                  <a:srgbClr val="FF0000"/>
                </a:solidFill>
              </a:rPr>
              <a:t>Βήμα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6AA8B-CE05-B8E3-9F26-A43BC5365689}"/>
              </a:ext>
            </a:extLst>
          </p:cNvPr>
          <p:cNvSpPr txBox="1"/>
          <p:nvPr/>
        </p:nvSpPr>
        <p:spPr>
          <a:xfrm>
            <a:off x="4404049" y="1971105"/>
            <a:ext cx="111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>
                <a:solidFill>
                  <a:srgbClr val="FF0000"/>
                </a:solidFill>
              </a:rPr>
              <a:t>Βήμα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Θέση υποσέλιδου 9">
            <a:extLst>
              <a:ext uri="{FF2B5EF4-FFF2-40B4-BE49-F238E27FC236}">
                <a16:creationId xmlns:a16="http://schemas.microsoft.com/office/drawing/2014/main" id="{2C9991AF-E3C9-BDA6-813B-0DBA9B5F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 dirty="0"/>
          </a:p>
        </p:txBody>
      </p:sp>
      <p:sp>
        <p:nvSpPr>
          <p:cNvPr id="11" name="Θέση αριθμού διαφάνειας 10">
            <a:extLst>
              <a:ext uri="{FF2B5EF4-FFF2-40B4-BE49-F238E27FC236}">
                <a16:creationId xmlns:a16="http://schemas.microsoft.com/office/drawing/2014/main" id="{DFB95E0A-791A-92EF-72E6-4E75E4A6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5F96B-D08B-9F95-D3D8-56D14A1DDE20}"/>
              </a:ext>
            </a:extLst>
          </p:cNvPr>
          <p:cNvSpPr txBox="1"/>
          <p:nvPr/>
        </p:nvSpPr>
        <p:spPr>
          <a:xfrm>
            <a:off x="6224586" y="962592"/>
            <a:ext cx="41148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Για να δημιουργήσουμε το αρχείο μας </a:t>
            </a:r>
            <a:r>
              <a:rPr lang="en-US" dirty="0"/>
              <a:t>:</a:t>
            </a:r>
            <a:r>
              <a:rPr lang="el-GR" dirty="0"/>
              <a:t> </a:t>
            </a:r>
          </a:p>
          <a:p>
            <a:endParaRPr lang="el-GR" dirty="0"/>
          </a:p>
          <a:p>
            <a:pPr marL="342900" indent="-342900">
              <a:buAutoNum type="arabicPeriod"/>
            </a:pPr>
            <a:r>
              <a:rPr lang="el-GR" dirty="0"/>
              <a:t>Ανοίγουμε το </a:t>
            </a:r>
            <a:r>
              <a:rPr lang="en-US" dirty="0" err="1"/>
              <a:t>Rstudio</a:t>
            </a:r>
            <a:r>
              <a:rPr lang="el-GR" dirty="0"/>
              <a:t> 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E</a:t>
            </a:r>
            <a:r>
              <a:rPr lang="el-GR" dirty="0" err="1"/>
              <a:t>πιλέγουμε</a:t>
            </a:r>
            <a:r>
              <a:rPr lang="el-GR" dirty="0"/>
              <a:t> </a:t>
            </a:r>
          </a:p>
          <a:p>
            <a:endParaRPr lang="el-GR" dirty="0"/>
          </a:p>
          <a:p>
            <a:r>
              <a:rPr lang="en-US" dirty="0"/>
              <a:t>File-&gt; New File -&gt; R Markdown </a:t>
            </a:r>
            <a:endParaRPr lang="el-G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27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εικόνα">
            <a:extLst>
              <a:ext uri="{FF2B5EF4-FFF2-40B4-BE49-F238E27FC236}">
                <a16:creationId xmlns:a16="http://schemas.microsoft.com/office/drawing/2014/main" id="{1E294F34-4C81-86F4-C774-01D743D6E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23" y="535470"/>
            <a:ext cx="6129861" cy="545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18ABC7-FD90-1B55-9642-A9AB89D86C6E}"/>
              </a:ext>
            </a:extLst>
          </p:cNvPr>
          <p:cNvSpPr txBox="1"/>
          <p:nvPr/>
        </p:nvSpPr>
        <p:spPr>
          <a:xfrm>
            <a:off x="179623" y="104583"/>
            <a:ext cx="4308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How to start?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10966-A7C1-95AF-74EE-96D044570AB8}"/>
              </a:ext>
            </a:extLst>
          </p:cNvPr>
          <p:cNvSpPr txBox="1"/>
          <p:nvPr/>
        </p:nvSpPr>
        <p:spPr>
          <a:xfrm>
            <a:off x="6444676" y="1182016"/>
            <a:ext cx="5940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b="1" dirty="0">
                <a:solidFill>
                  <a:srgbClr val="FF0000"/>
                </a:solidFill>
              </a:rPr>
              <a:t>1. Συμπληρώνετε τίτλο εργασίας, συγγραφέα και ημερομηνία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85143-E9F6-084D-123B-739091232432}"/>
              </a:ext>
            </a:extLst>
          </p:cNvPr>
          <p:cNvSpPr txBox="1"/>
          <p:nvPr/>
        </p:nvSpPr>
        <p:spPr>
          <a:xfrm>
            <a:off x="6444676" y="2844225"/>
            <a:ext cx="5940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b="1" dirty="0">
                <a:solidFill>
                  <a:srgbClr val="FF0000"/>
                </a:solidFill>
              </a:rPr>
              <a:t>2. Επιλέγετε τον τύπο αρχείου που θέλετε να αποθηκεύσετε την εργασία/ανάλυσή σας.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61804-2945-C195-1CD8-B932862B7570}"/>
              </a:ext>
            </a:extLst>
          </p:cNvPr>
          <p:cNvSpPr txBox="1"/>
          <p:nvPr/>
        </p:nvSpPr>
        <p:spPr>
          <a:xfrm>
            <a:off x="6488131" y="5018480"/>
            <a:ext cx="5949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b="1" dirty="0">
                <a:solidFill>
                  <a:srgbClr val="FF0000"/>
                </a:solidFill>
              </a:rPr>
              <a:t>3. Επιλέγετε το ΟΚ και σας εμφανίζονται οι πληροφορίες της εργασίας σας.</a:t>
            </a:r>
            <a:endParaRPr lang="en-US" sz="1600" b="1" dirty="0">
              <a:solidFill>
                <a:srgbClr val="FF0000"/>
              </a:solidFill>
            </a:endParaRPr>
          </a:p>
        </p:txBody>
      </p:sp>
      <p:pic>
        <p:nvPicPr>
          <p:cNvPr id="6" name="Picture 2" descr="εικόνα">
            <a:extLst>
              <a:ext uri="{FF2B5EF4-FFF2-40B4-BE49-F238E27FC236}">
                <a16:creationId xmlns:a16="http://schemas.microsoft.com/office/drawing/2014/main" id="{56B7546E-CC1B-9980-BF64-4547AA78C5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43"/>
          <a:stretch/>
        </p:blipFill>
        <p:spPr bwMode="auto">
          <a:xfrm>
            <a:off x="8330820" y="5383944"/>
            <a:ext cx="3379098" cy="1365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Θέση υποσέλιδου 6">
            <a:extLst>
              <a:ext uri="{FF2B5EF4-FFF2-40B4-BE49-F238E27FC236}">
                <a16:creationId xmlns:a16="http://schemas.microsoft.com/office/drawing/2014/main" id="{121D939D-6C97-5F84-1CA1-6CCDB240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87E95059-319A-0C13-16E6-31526733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68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εικόνα">
            <a:extLst>
              <a:ext uri="{FF2B5EF4-FFF2-40B4-BE49-F238E27FC236}">
                <a16:creationId xmlns:a16="http://schemas.microsoft.com/office/drawing/2014/main" id="{27450E5B-CA7E-BAC6-F9AF-4752160AB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158555"/>
            <a:ext cx="8887342" cy="374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εικόνα">
            <a:extLst>
              <a:ext uri="{FF2B5EF4-FFF2-40B4-BE49-F238E27FC236}">
                <a16:creationId xmlns:a16="http://schemas.microsoft.com/office/drawing/2014/main" id="{B06D335F-B3F9-4424-F7F1-C8EE01BA3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615" y="4186620"/>
            <a:ext cx="494347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Ορθογώνιο 2">
            <a:extLst>
              <a:ext uri="{FF2B5EF4-FFF2-40B4-BE49-F238E27FC236}">
                <a16:creationId xmlns:a16="http://schemas.microsoft.com/office/drawing/2014/main" id="{C26DCDA5-9435-2F64-7797-F4D6F673E6E9}"/>
              </a:ext>
            </a:extLst>
          </p:cNvPr>
          <p:cNvSpPr/>
          <p:nvPr/>
        </p:nvSpPr>
        <p:spPr>
          <a:xfrm>
            <a:off x="447869" y="1418253"/>
            <a:ext cx="1091682" cy="1772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BAA27111-6305-CE5F-1328-4D04DE6C5769}"/>
              </a:ext>
            </a:extLst>
          </p:cNvPr>
          <p:cNvSpPr/>
          <p:nvPr/>
        </p:nvSpPr>
        <p:spPr>
          <a:xfrm>
            <a:off x="311020" y="2916594"/>
            <a:ext cx="1091682" cy="1166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C3118-8857-DF82-7C87-74939BD23EC1}"/>
              </a:ext>
            </a:extLst>
          </p:cNvPr>
          <p:cNvSpPr txBox="1"/>
          <p:nvPr/>
        </p:nvSpPr>
        <p:spPr>
          <a:xfrm>
            <a:off x="6728149" y="233414"/>
            <a:ext cx="5349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2. Κώδικα γράφουμε ανάμεσα στο διάστημα μεταξύ: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5BA1A-729F-EFB2-301A-722EAF56DF11}"/>
              </a:ext>
            </a:extLst>
          </p:cNvPr>
          <p:cNvSpPr txBox="1"/>
          <p:nvPr/>
        </p:nvSpPr>
        <p:spPr>
          <a:xfrm>
            <a:off x="9175686" y="672205"/>
            <a:ext cx="1804046" cy="923330"/>
          </a:xfrm>
          <a:prstGeom prst="rect">
            <a:avLst/>
          </a:prstGeom>
          <a:noFill/>
          <a:ln>
            <a:solidFill>
              <a:srgbClr val="6C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6C0000"/>
                </a:solidFill>
              </a:rPr>
              <a:t>```{r}</a:t>
            </a:r>
          </a:p>
          <a:p>
            <a:pPr algn="ctr"/>
            <a:r>
              <a:rPr lang="en-US" b="1" i="1" dirty="0">
                <a:solidFill>
                  <a:srgbClr val="6C0000"/>
                </a:solidFill>
              </a:rPr>
              <a:t>your code</a:t>
            </a:r>
          </a:p>
          <a:p>
            <a:pPr algn="ctr"/>
            <a:r>
              <a:rPr lang="en-US" b="1" dirty="0">
                <a:solidFill>
                  <a:srgbClr val="6C0000"/>
                </a:solidFill>
              </a:rPr>
              <a:t>```</a:t>
            </a:r>
            <a:r>
              <a:rPr lang="el-GR" b="1" dirty="0">
                <a:solidFill>
                  <a:srgbClr val="6C0000"/>
                </a:solidFill>
              </a:rPr>
              <a:t> </a:t>
            </a:r>
            <a:endParaRPr lang="en-US" b="1" dirty="0">
              <a:solidFill>
                <a:srgbClr val="6C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3A71C-999D-E958-B063-995D664EA04C}"/>
              </a:ext>
            </a:extLst>
          </p:cNvPr>
          <p:cNvSpPr txBox="1"/>
          <p:nvPr/>
        </p:nvSpPr>
        <p:spPr>
          <a:xfrm>
            <a:off x="114300" y="234319"/>
            <a:ext cx="5131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1. Μπορούμε να γράψουμε κανονικά την αναφορά μας (σχόλια, κείμενο)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F4EE0-272E-20F2-CEC2-84FBD237AB01}"/>
              </a:ext>
            </a:extLst>
          </p:cNvPr>
          <p:cNvSpPr txBox="1"/>
          <p:nvPr/>
        </p:nvSpPr>
        <p:spPr>
          <a:xfrm>
            <a:off x="1520889" y="1307779"/>
            <a:ext cx="32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39D1B-FCC0-1F8A-006A-A4874F627866}"/>
              </a:ext>
            </a:extLst>
          </p:cNvPr>
          <p:cNvSpPr txBox="1"/>
          <p:nvPr/>
        </p:nvSpPr>
        <p:spPr>
          <a:xfrm>
            <a:off x="1362143" y="2790245"/>
            <a:ext cx="32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Ορθογώνιο 10">
            <a:extLst>
              <a:ext uri="{FF2B5EF4-FFF2-40B4-BE49-F238E27FC236}">
                <a16:creationId xmlns:a16="http://schemas.microsoft.com/office/drawing/2014/main" id="{764C1E33-4705-1F68-9F71-E045AEC1907E}"/>
              </a:ext>
            </a:extLst>
          </p:cNvPr>
          <p:cNvSpPr/>
          <p:nvPr/>
        </p:nvSpPr>
        <p:spPr>
          <a:xfrm>
            <a:off x="488296" y="1160099"/>
            <a:ext cx="2086955" cy="147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22696-42F9-BA6D-073E-2E2E99561473}"/>
              </a:ext>
            </a:extLst>
          </p:cNvPr>
          <p:cNvSpPr txBox="1"/>
          <p:nvPr/>
        </p:nvSpPr>
        <p:spPr>
          <a:xfrm>
            <a:off x="2519266" y="1008629"/>
            <a:ext cx="32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Ορθογώνιο 12">
            <a:extLst>
              <a:ext uri="{FF2B5EF4-FFF2-40B4-BE49-F238E27FC236}">
                <a16:creationId xmlns:a16="http://schemas.microsoft.com/office/drawing/2014/main" id="{CD0DBD10-5CBE-A8FE-1284-9F7F5E2E2F57}"/>
              </a:ext>
            </a:extLst>
          </p:cNvPr>
          <p:cNvSpPr/>
          <p:nvPr/>
        </p:nvSpPr>
        <p:spPr>
          <a:xfrm>
            <a:off x="488296" y="3182452"/>
            <a:ext cx="7433394" cy="1817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98676A-19AC-BFA7-D062-92F728CE6523}"/>
              </a:ext>
            </a:extLst>
          </p:cNvPr>
          <p:cNvSpPr txBox="1"/>
          <p:nvPr/>
        </p:nvSpPr>
        <p:spPr>
          <a:xfrm>
            <a:off x="7921690" y="3033228"/>
            <a:ext cx="32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92A096-86DB-B642-89D3-92CFF2D2B72F}"/>
              </a:ext>
            </a:extLst>
          </p:cNvPr>
          <p:cNvSpPr txBox="1"/>
          <p:nvPr/>
        </p:nvSpPr>
        <p:spPr>
          <a:xfrm>
            <a:off x="9037122" y="2931446"/>
            <a:ext cx="3171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3. Προσθέτοντας το όρισμα </a:t>
            </a:r>
            <a:r>
              <a:rPr lang="en-US" b="1" i="1" dirty="0">
                <a:solidFill>
                  <a:srgbClr val="6C0000"/>
                </a:solidFill>
              </a:rPr>
              <a:t>echo=FALSE</a:t>
            </a:r>
            <a:endParaRPr lang="el-GR" b="1" i="1" dirty="0">
              <a:solidFill>
                <a:srgbClr val="6C0000"/>
              </a:solidFill>
            </a:endParaRPr>
          </a:p>
          <a:p>
            <a:r>
              <a:rPr lang="el-GR" dirty="0">
                <a:solidFill>
                  <a:srgbClr val="FF0000"/>
                </a:solidFill>
              </a:rPr>
              <a:t>δε θα εμφανίζεται ο κώδικας στο τελικό αρχείο.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Ορθογώνιο 15">
            <a:extLst>
              <a:ext uri="{FF2B5EF4-FFF2-40B4-BE49-F238E27FC236}">
                <a16:creationId xmlns:a16="http://schemas.microsoft.com/office/drawing/2014/main" id="{41C23DD6-F6B1-AF9E-EB0B-905BE055F8B7}"/>
              </a:ext>
            </a:extLst>
          </p:cNvPr>
          <p:cNvSpPr/>
          <p:nvPr/>
        </p:nvSpPr>
        <p:spPr>
          <a:xfrm>
            <a:off x="7451950" y="4611545"/>
            <a:ext cx="3116425" cy="4089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ED2341-FE03-33D5-A01A-41541E5F6984}"/>
              </a:ext>
            </a:extLst>
          </p:cNvPr>
          <p:cNvSpPr txBox="1"/>
          <p:nvPr/>
        </p:nvSpPr>
        <p:spPr>
          <a:xfrm>
            <a:off x="10468946" y="4758678"/>
            <a:ext cx="32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FB0AE5-70FA-DCC9-974C-811F5B01778C}"/>
              </a:ext>
            </a:extLst>
          </p:cNvPr>
          <p:cNvSpPr txBox="1"/>
          <p:nvPr/>
        </p:nvSpPr>
        <p:spPr>
          <a:xfrm>
            <a:off x="1681064" y="5016665"/>
            <a:ext cx="5349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4. Μπορούμε να χρησιμοποιήσουμε: </a:t>
            </a:r>
          </a:p>
          <a:p>
            <a:r>
              <a:rPr lang="el-GR" b="1" dirty="0">
                <a:solidFill>
                  <a:srgbClr val="6C0000"/>
                </a:solidFill>
              </a:rPr>
              <a:t>	*</a:t>
            </a:r>
            <a:r>
              <a:rPr lang="en-US" b="1" dirty="0">
                <a:solidFill>
                  <a:srgbClr val="6C0000"/>
                </a:solidFill>
              </a:rPr>
              <a:t> </a:t>
            </a:r>
            <a:r>
              <a:rPr lang="el-GR" dirty="0">
                <a:solidFill>
                  <a:srgbClr val="6C0000"/>
                </a:solidFill>
              </a:rPr>
              <a:t>για </a:t>
            </a:r>
            <a:r>
              <a:rPr lang="en-US" dirty="0">
                <a:solidFill>
                  <a:srgbClr val="6C0000"/>
                </a:solidFill>
              </a:rPr>
              <a:t>italics</a:t>
            </a:r>
            <a:endParaRPr lang="el-GR" dirty="0">
              <a:solidFill>
                <a:srgbClr val="6C0000"/>
              </a:solidFill>
            </a:endParaRPr>
          </a:p>
          <a:p>
            <a:r>
              <a:rPr lang="el-GR" b="1" dirty="0">
                <a:solidFill>
                  <a:srgbClr val="6C0000"/>
                </a:solidFill>
              </a:rPr>
              <a:t>	**</a:t>
            </a:r>
            <a:r>
              <a:rPr lang="el-GR" dirty="0">
                <a:solidFill>
                  <a:srgbClr val="6C0000"/>
                </a:solidFill>
              </a:rPr>
              <a:t> για </a:t>
            </a:r>
            <a:r>
              <a:rPr lang="en-US" dirty="0">
                <a:solidFill>
                  <a:srgbClr val="6C0000"/>
                </a:solidFill>
              </a:rPr>
              <a:t>bold</a:t>
            </a:r>
            <a:r>
              <a:rPr lang="el-GR" dirty="0">
                <a:solidFill>
                  <a:srgbClr val="6C0000"/>
                </a:solidFill>
              </a:rPr>
              <a:t>	</a:t>
            </a:r>
            <a:endParaRPr lang="en-US" dirty="0">
              <a:solidFill>
                <a:srgbClr val="6C0000"/>
              </a:solidFill>
            </a:endParaRPr>
          </a:p>
          <a:p>
            <a:r>
              <a:rPr lang="el-GR" b="1" dirty="0">
                <a:solidFill>
                  <a:srgbClr val="6C0000"/>
                </a:solidFill>
              </a:rPr>
              <a:t>	</a:t>
            </a:r>
            <a:r>
              <a:rPr lang="en-US" b="1" dirty="0">
                <a:solidFill>
                  <a:srgbClr val="6C0000"/>
                </a:solidFill>
              </a:rPr>
              <a:t>&lt;</a:t>
            </a:r>
            <a:r>
              <a:rPr lang="en-US" b="1" dirty="0" err="1">
                <a:solidFill>
                  <a:srgbClr val="6C0000"/>
                </a:solidFill>
              </a:rPr>
              <a:t>br</a:t>
            </a:r>
            <a:r>
              <a:rPr lang="en-US" b="1" dirty="0">
                <a:solidFill>
                  <a:srgbClr val="6C0000"/>
                </a:solidFill>
              </a:rPr>
              <a:t>&gt; </a:t>
            </a:r>
            <a:r>
              <a:rPr lang="el-GR" dirty="0">
                <a:solidFill>
                  <a:srgbClr val="6C0000"/>
                </a:solidFill>
              </a:rPr>
              <a:t>για να γράψουμε στην κάτω γραμμή</a:t>
            </a:r>
            <a:endParaRPr lang="en-US" dirty="0">
              <a:solidFill>
                <a:srgbClr val="6C0000"/>
              </a:solidFill>
            </a:endParaRPr>
          </a:p>
        </p:txBody>
      </p:sp>
      <p:sp>
        <p:nvSpPr>
          <p:cNvPr id="19" name="Θέση υποσέλιδου 18">
            <a:extLst>
              <a:ext uri="{FF2B5EF4-FFF2-40B4-BE49-F238E27FC236}">
                <a16:creationId xmlns:a16="http://schemas.microsoft.com/office/drawing/2014/main" id="{E71E797F-8AEC-2EAA-F60F-077D1BEEC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20" name="Θέση αριθμού διαφάνειας 19">
            <a:extLst>
              <a:ext uri="{FF2B5EF4-FFF2-40B4-BE49-F238E27FC236}">
                <a16:creationId xmlns:a16="http://schemas.microsoft.com/office/drawing/2014/main" id="{DD98E460-7B03-5E16-A9CF-7FF3494B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εικόνα">
            <a:extLst>
              <a:ext uri="{FF2B5EF4-FFF2-40B4-BE49-F238E27FC236}">
                <a16:creationId xmlns:a16="http://schemas.microsoft.com/office/drawing/2014/main" id="{739173D7-2392-0F13-30A4-1AD7D366E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0" y="1244173"/>
            <a:ext cx="2704372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εικόνα">
            <a:extLst>
              <a:ext uri="{FF2B5EF4-FFF2-40B4-BE49-F238E27FC236}">
                <a16:creationId xmlns:a16="http://schemas.microsoft.com/office/drawing/2014/main" id="{11EA20AA-FDF3-F524-F8B6-CE3AEBA86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560" y="3579449"/>
            <a:ext cx="279082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Ορθογώνιο 1">
            <a:extLst>
              <a:ext uri="{FF2B5EF4-FFF2-40B4-BE49-F238E27FC236}">
                <a16:creationId xmlns:a16="http://schemas.microsoft.com/office/drawing/2014/main" id="{5E8C534F-DB90-9E40-DCBD-AA31C0387A98}"/>
              </a:ext>
            </a:extLst>
          </p:cNvPr>
          <p:cNvSpPr/>
          <p:nvPr/>
        </p:nvSpPr>
        <p:spPr>
          <a:xfrm>
            <a:off x="677441" y="1194211"/>
            <a:ext cx="317241" cy="320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848B6-D25C-F415-98C9-BE7C77D14A3A}"/>
              </a:ext>
            </a:extLst>
          </p:cNvPr>
          <p:cNvSpPr txBox="1"/>
          <p:nvPr/>
        </p:nvSpPr>
        <p:spPr>
          <a:xfrm>
            <a:off x="539824" y="815548"/>
            <a:ext cx="111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>
                <a:solidFill>
                  <a:srgbClr val="FF0000"/>
                </a:solidFill>
              </a:rPr>
              <a:t>Βήμα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16D10D4B-BC39-7FC0-BB60-EF27792BBD64}"/>
              </a:ext>
            </a:extLst>
          </p:cNvPr>
          <p:cNvSpPr/>
          <p:nvPr/>
        </p:nvSpPr>
        <p:spPr>
          <a:xfrm>
            <a:off x="8178087" y="3762874"/>
            <a:ext cx="2292610" cy="1011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67BFD708-CBEA-151E-91C0-1CF3CE64BF7D}"/>
              </a:ext>
            </a:extLst>
          </p:cNvPr>
          <p:cNvSpPr/>
          <p:nvPr/>
        </p:nvSpPr>
        <p:spPr>
          <a:xfrm>
            <a:off x="732816" y="3887360"/>
            <a:ext cx="2244781" cy="2394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8804DA-CB8E-9854-6A73-95BE53A3A105}"/>
              </a:ext>
            </a:extLst>
          </p:cNvPr>
          <p:cNvSpPr txBox="1"/>
          <p:nvPr/>
        </p:nvSpPr>
        <p:spPr>
          <a:xfrm>
            <a:off x="3449011" y="3787178"/>
            <a:ext cx="111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>
                <a:solidFill>
                  <a:srgbClr val="FF0000"/>
                </a:solidFill>
              </a:rPr>
              <a:t>Βήμα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E8E673-07E4-5F46-9E61-88FA646BF144}"/>
              </a:ext>
            </a:extLst>
          </p:cNvPr>
          <p:cNvSpPr txBox="1"/>
          <p:nvPr/>
        </p:nvSpPr>
        <p:spPr>
          <a:xfrm>
            <a:off x="176306" y="109835"/>
            <a:ext cx="6989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/>
              <a:t>Αποθήκευση εργασίας &amp; Εξαγωγή της αναφοράς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03AB2-2AA6-6817-1705-13A27B8ACD99}"/>
              </a:ext>
            </a:extLst>
          </p:cNvPr>
          <p:cNvSpPr txBox="1"/>
          <p:nvPr/>
        </p:nvSpPr>
        <p:spPr>
          <a:xfrm>
            <a:off x="7038519" y="2784432"/>
            <a:ext cx="44424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 dirty="0">
                <a:solidFill>
                  <a:srgbClr val="FF0000"/>
                </a:solidFill>
              </a:rPr>
              <a:t>Επιλέγετε τον τύπο αρχείου πο</a:t>
            </a:r>
            <a:r>
              <a:rPr lang="el-GR" dirty="0">
                <a:solidFill>
                  <a:srgbClr val="FF0000"/>
                </a:solidFill>
              </a:rPr>
              <a:t>υ επιθυμείτε να εξάγετε την αναφορά (</a:t>
            </a:r>
            <a:r>
              <a:rPr lang="en-US" sz="1800" dirty="0">
                <a:solidFill>
                  <a:srgbClr val="FF0000"/>
                </a:solidFill>
              </a:rPr>
              <a:t>html/ pdf/ word</a:t>
            </a:r>
            <a:r>
              <a:rPr lang="el-GR" sz="1800" dirty="0">
                <a:solidFill>
                  <a:srgbClr val="FF0000"/>
                </a:solidFill>
              </a:rPr>
              <a:t>). 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1" name="Θέση υποσέλιδου 10">
            <a:extLst>
              <a:ext uri="{FF2B5EF4-FFF2-40B4-BE49-F238E27FC236}">
                <a16:creationId xmlns:a16="http://schemas.microsoft.com/office/drawing/2014/main" id="{29D996EF-E70C-E2B9-549A-797D69EE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Rmarkdown (Εργαστήρια Ανάλυσης Δεδομένων 2025)</a:t>
            </a:r>
            <a:endParaRPr lang="en-US"/>
          </a:p>
        </p:txBody>
      </p:sp>
      <p:sp>
        <p:nvSpPr>
          <p:cNvPr id="12" name="Θέση αριθμού διαφάνειας 11">
            <a:extLst>
              <a:ext uri="{FF2B5EF4-FFF2-40B4-BE49-F238E27FC236}">
                <a16:creationId xmlns:a16="http://schemas.microsoft.com/office/drawing/2014/main" id="{F7F83EF7-5336-5755-59ED-49FC3A07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72ED-E776-43AA-A1CF-5D8F3EACE319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13512B-D249-B83B-4785-98D8D0B0E340}"/>
              </a:ext>
            </a:extLst>
          </p:cNvPr>
          <p:cNvSpPr txBox="1"/>
          <p:nvPr/>
        </p:nvSpPr>
        <p:spPr>
          <a:xfrm>
            <a:off x="3610412" y="1209842"/>
            <a:ext cx="44424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 dirty="0">
                <a:solidFill>
                  <a:srgbClr val="FF0000"/>
                </a:solidFill>
              </a:rPr>
              <a:t>Αποθηκεύετε την εργασία (κώδικα) σε μορφή αρχείου </a:t>
            </a:r>
            <a:r>
              <a:rPr lang="en-US" dirty="0" err="1">
                <a:solidFill>
                  <a:srgbClr val="FF0000"/>
                </a:solidFill>
              </a:rPr>
              <a:t>Rmd</a:t>
            </a:r>
            <a:r>
              <a:rPr lang="el-GR" dirty="0">
                <a:solidFill>
                  <a:srgbClr val="FF0000"/>
                </a:solidFill>
              </a:rPr>
              <a:t> με τα βήματα 1 και 2.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873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310</Words>
  <Application>Microsoft Office PowerPoint</Application>
  <PresentationFormat>Ευρεία οθόνη</PresentationFormat>
  <Paragraphs>58</Paragraphs>
  <Slides>6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Θέμα του Office</vt:lpstr>
      <vt:lpstr>Rmarkdown</vt:lpstr>
      <vt:lpstr>Τι είναι το  Rmardown? 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Rmarkdown</dc:title>
  <dc:creator>Damoulaki Argyro</dc:creator>
  <cp:lastModifiedBy>Anna Nalpantidi</cp:lastModifiedBy>
  <cp:revision>18</cp:revision>
  <dcterms:created xsi:type="dcterms:W3CDTF">2024-03-07T11:04:37Z</dcterms:created>
  <dcterms:modified xsi:type="dcterms:W3CDTF">2025-02-21T10:31:37Z</dcterms:modified>
</cp:coreProperties>
</file>